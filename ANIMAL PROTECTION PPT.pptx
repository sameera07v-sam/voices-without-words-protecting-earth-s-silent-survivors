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nva Sans Bold" panose="020B0604020202020204" charset="0"/>
      <p:regular r:id="rId10"/>
    </p:embeddedFont>
    <p:embeddedFont>
      <p:font typeface="ITC Avant Garde Gothic" panose="020B0604020202020204" charset="0"/>
      <p:regular r:id="rId11"/>
    </p:embeddedFont>
    <p:embeddedFont>
      <p:font typeface="TT Fors"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E9EA11-023F-41D8-90BD-4FA8FAAEE15F}" v="16" dt="2026-02-19T06:04:05.5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eera V" userId="76a61095b9d5a402" providerId="LiveId" clId="{F9A7A482-5CD7-4DF4-8F34-94A079140BEB}"/>
    <pc:docChg chg="delSld modSld">
      <pc:chgData name="Sameera V" userId="76a61095b9d5a402" providerId="LiveId" clId="{F9A7A482-5CD7-4DF4-8F34-94A079140BEB}" dt="2026-02-19T06:04:05.503" v="25"/>
      <pc:docMkLst>
        <pc:docMk/>
      </pc:docMkLst>
      <pc:sldChg chg="modTransition">
        <pc:chgData name="Sameera V" userId="76a61095b9d5a402" providerId="LiveId" clId="{F9A7A482-5CD7-4DF4-8F34-94A079140BEB}" dt="2026-02-19T06:03:23.716" v="11"/>
        <pc:sldMkLst>
          <pc:docMk/>
          <pc:sldMk cId="0" sldId="256"/>
        </pc:sldMkLst>
      </pc:sldChg>
      <pc:sldChg chg="modTransition">
        <pc:chgData name="Sameera V" userId="76a61095b9d5a402" providerId="LiveId" clId="{F9A7A482-5CD7-4DF4-8F34-94A079140BEB}" dt="2026-02-19T06:03:29.408" v="13"/>
        <pc:sldMkLst>
          <pc:docMk/>
          <pc:sldMk cId="0" sldId="257"/>
        </pc:sldMkLst>
      </pc:sldChg>
      <pc:sldChg chg="modTransition">
        <pc:chgData name="Sameera V" userId="76a61095b9d5a402" providerId="LiveId" clId="{F9A7A482-5CD7-4DF4-8F34-94A079140BEB}" dt="2026-02-19T06:03:35.217" v="15"/>
        <pc:sldMkLst>
          <pc:docMk/>
          <pc:sldMk cId="0" sldId="258"/>
        </pc:sldMkLst>
      </pc:sldChg>
      <pc:sldChg chg="modTransition">
        <pc:chgData name="Sameera V" userId="76a61095b9d5a402" providerId="LiveId" clId="{F9A7A482-5CD7-4DF4-8F34-94A079140BEB}" dt="2026-02-19T06:03:42.089" v="17"/>
        <pc:sldMkLst>
          <pc:docMk/>
          <pc:sldMk cId="0" sldId="259"/>
        </pc:sldMkLst>
      </pc:sldChg>
      <pc:sldChg chg="modTransition">
        <pc:chgData name="Sameera V" userId="76a61095b9d5a402" providerId="LiveId" clId="{F9A7A482-5CD7-4DF4-8F34-94A079140BEB}" dt="2026-02-19T06:03:48.149" v="19"/>
        <pc:sldMkLst>
          <pc:docMk/>
          <pc:sldMk cId="0" sldId="260"/>
        </pc:sldMkLst>
      </pc:sldChg>
      <pc:sldChg chg="modTransition">
        <pc:chgData name="Sameera V" userId="76a61095b9d5a402" providerId="LiveId" clId="{F9A7A482-5CD7-4DF4-8F34-94A079140BEB}" dt="2026-02-19T06:03:54.370" v="21"/>
        <pc:sldMkLst>
          <pc:docMk/>
          <pc:sldMk cId="0" sldId="261"/>
        </pc:sldMkLst>
      </pc:sldChg>
      <pc:sldChg chg="modTransition">
        <pc:chgData name="Sameera V" userId="76a61095b9d5a402" providerId="LiveId" clId="{F9A7A482-5CD7-4DF4-8F34-94A079140BEB}" dt="2026-02-19T06:04:00.164" v="23"/>
        <pc:sldMkLst>
          <pc:docMk/>
          <pc:sldMk cId="0" sldId="262"/>
        </pc:sldMkLst>
      </pc:sldChg>
      <pc:sldChg chg="modSp mod modTransition">
        <pc:chgData name="Sameera V" userId="76a61095b9d5a402" providerId="LiveId" clId="{F9A7A482-5CD7-4DF4-8F34-94A079140BEB}" dt="2026-02-19T06:04:05.503" v="25"/>
        <pc:sldMkLst>
          <pc:docMk/>
          <pc:sldMk cId="0" sldId="263"/>
        </pc:sldMkLst>
        <pc:spChg chg="mod">
          <ac:chgData name="Sameera V" userId="76a61095b9d5a402" providerId="LiveId" clId="{F9A7A482-5CD7-4DF4-8F34-94A079140BEB}" dt="2026-02-19T06:02:33.673" v="4" actId="1076"/>
          <ac:spMkLst>
            <pc:docMk/>
            <pc:sldMk cId="0" sldId="263"/>
            <ac:spMk id="5" creationId="{00000000-0000-0000-0000-000000000000}"/>
          </ac:spMkLst>
        </pc:spChg>
        <pc:spChg chg="mod">
          <ac:chgData name="Sameera V" userId="76a61095b9d5a402" providerId="LiveId" clId="{F9A7A482-5CD7-4DF4-8F34-94A079140BEB}" dt="2026-02-19T06:03:01.116" v="9" actId="1076"/>
          <ac:spMkLst>
            <pc:docMk/>
            <pc:sldMk cId="0" sldId="263"/>
            <ac:spMk id="6" creationId="{00000000-0000-0000-0000-000000000000}"/>
          </ac:spMkLst>
        </pc:spChg>
      </pc:sldChg>
      <pc:sldChg chg="del">
        <pc:chgData name="Sameera V" userId="76a61095b9d5a402" providerId="LiveId" clId="{F9A7A482-5CD7-4DF4-8F34-94A079140BEB}" dt="2026-02-19T06:02:18.215" v="0" actId="2696"/>
        <pc:sldMkLst>
          <pc:docMk/>
          <pc:sldMk cId="0" sldId="2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7EDE2"/>
        </a:solidFill>
        <a:effectLst/>
      </p:bgPr>
    </p:bg>
    <p:spTree>
      <p:nvGrpSpPr>
        <p:cNvPr id="1" name=""/>
        <p:cNvGrpSpPr/>
        <p:nvPr/>
      </p:nvGrpSpPr>
      <p:grpSpPr>
        <a:xfrm>
          <a:off x="0" y="0"/>
          <a:ext cx="0" cy="0"/>
          <a:chOff x="0" y="0"/>
          <a:chExt cx="0" cy="0"/>
        </a:xfrm>
      </p:grpSpPr>
      <p:grpSp>
        <p:nvGrpSpPr>
          <p:cNvPr id="2" name="Group 2"/>
          <p:cNvGrpSpPr/>
          <p:nvPr/>
        </p:nvGrpSpPr>
        <p:grpSpPr>
          <a:xfrm>
            <a:off x="11868150" y="0"/>
            <a:ext cx="6419850" cy="10287000"/>
            <a:chOff x="0" y="0"/>
            <a:chExt cx="8559800" cy="13716000"/>
          </a:xfrm>
        </p:grpSpPr>
        <p:sp>
          <p:nvSpPr>
            <p:cNvPr id="3" name="Freeform 3"/>
            <p:cNvSpPr/>
            <p:nvPr/>
          </p:nvSpPr>
          <p:spPr>
            <a:xfrm>
              <a:off x="0" y="0"/>
              <a:ext cx="8559800" cy="13716000"/>
            </a:xfrm>
            <a:custGeom>
              <a:avLst/>
              <a:gdLst/>
              <a:ahLst/>
              <a:cxnLst/>
              <a:rect l="l" t="t" r="r" b="b"/>
              <a:pathLst>
                <a:path w="8559800" h="13716000">
                  <a:moveTo>
                    <a:pt x="0" y="0"/>
                  </a:moveTo>
                  <a:lnTo>
                    <a:pt x="8559800" y="0"/>
                  </a:lnTo>
                  <a:lnTo>
                    <a:pt x="8559800" y="13716000"/>
                  </a:lnTo>
                  <a:lnTo>
                    <a:pt x="0" y="13716000"/>
                  </a:lnTo>
                  <a:close/>
                </a:path>
              </a:pathLst>
            </a:custGeom>
            <a:blipFill>
              <a:blip r:embed="rId2"/>
              <a:stretch>
                <a:fillRect t="-97" b="-97"/>
              </a:stretch>
            </a:blipFill>
          </p:spPr>
        </p:sp>
      </p:grpSp>
      <p:sp>
        <p:nvSpPr>
          <p:cNvPr id="4" name="TextBox 4"/>
          <p:cNvSpPr txBox="1"/>
          <p:nvPr/>
        </p:nvSpPr>
        <p:spPr>
          <a:xfrm>
            <a:off x="663473" y="933123"/>
            <a:ext cx="10633381" cy="2514887"/>
          </a:xfrm>
          <a:prstGeom prst="rect">
            <a:avLst/>
          </a:prstGeom>
        </p:spPr>
        <p:txBody>
          <a:bodyPr lIns="0" tIns="0" rIns="0" bIns="0" rtlCol="0" anchor="t">
            <a:spAutoFit/>
          </a:bodyPr>
          <a:lstStyle/>
          <a:p>
            <a:pPr algn="l">
              <a:lnSpc>
                <a:spcPts val="9036"/>
              </a:lnSpc>
            </a:pPr>
            <a:r>
              <a:rPr lang="en-US" sz="9036" spc="-270">
                <a:solidFill>
                  <a:srgbClr val="375E53"/>
                </a:solidFill>
                <a:latin typeface="ITC Avant Garde Gothic"/>
                <a:ea typeface="ITC Avant Garde Gothic"/>
                <a:cs typeface="ITC Avant Garde Gothic"/>
                <a:sym typeface="ITC Avant Garde Gothic"/>
              </a:rPr>
              <a:t>VOICES WITHOUT WORDS </a:t>
            </a:r>
          </a:p>
        </p:txBody>
      </p:sp>
      <p:sp>
        <p:nvSpPr>
          <p:cNvPr id="5" name="TextBox 5"/>
          <p:cNvSpPr txBox="1"/>
          <p:nvPr/>
        </p:nvSpPr>
        <p:spPr>
          <a:xfrm>
            <a:off x="663473" y="7102831"/>
            <a:ext cx="7194652" cy="2724785"/>
          </a:xfrm>
          <a:prstGeom prst="rect">
            <a:avLst/>
          </a:prstGeom>
        </p:spPr>
        <p:txBody>
          <a:bodyPr lIns="0" tIns="0" rIns="0" bIns="0" rtlCol="0" anchor="t">
            <a:spAutoFit/>
          </a:bodyPr>
          <a:lstStyle/>
          <a:p>
            <a:pPr algn="l">
              <a:lnSpc>
                <a:spcPts val="3640"/>
              </a:lnSpc>
            </a:pPr>
            <a:r>
              <a:rPr lang="en-US" sz="2600">
                <a:solidFill>
                  <a:srgbClr val="375E53"/>
                </a:solidFill>
                <a:latin typeface="TT Fors"/>
                <a:ea typeface="TT Fors"/>
                <a:cs typeface="TT Fors"/>
                <a:sym typeface="TT Fors"/>
              </a:rPr>
              <a:t>Presented by:</a:t>
            </a:r>
          </a:p>
          <a:p>
            <a:pPr algn="l">
              <a:lnSpc>
                <a:spcPts val="3640"/>
              </a:lnSpc>
            </a:pPr>
            <a:r>
              <a:rPr lang="en-US" sz="2600">
                <a:solidFill>
                  <a:srgbClr val="375E53"/>
                </a:solidFill>
                <a:latin typeface="TT Fors"/>
                <a:ea typeface="TT Fors"/>
                <a:cs typeface="TT Fors"/>
                <a:sym typeface="TT Fors"/>
              </a:rPr>
              <a:t>Keerthana</a:t>
            </a:r>
          </a:p>
          <a:p>
            <a:pPr algn="l">
              <a:lnSpc>
                <a:spcPts val="3640"/>
              </a:lnSpc>
            </a:pPr>
            <a:r>
              <a:rPr lang="en-US" sz="2600">
                <a:solidFill>
                  <a:srgbClr val="375E53"/>
                </a:solidFill>
                <a:latin typeface="TT Fors"/>
                <a:ea typeface="TT Fors"/>
                <a:cs typeface="TT Fors"/>
                <a:sym typeface="TT Fors"/>
              </a:rPr>
              <a:t>Sameera</a:t>
            </a:r>
          </a:p>
          <a:p>
            <a:pPr algn="l">
              <a:lnSpc>
                <a:spcPts val="3640"/>
              </a:lnSpc>
            </a:pPr>
            <a:r>
              <a:rPr lang="en-US" sz="2600">
                <a:solidFill>
                  <a:srgbClr val="375E53"/>
                </a:solidFill>
                <a:latin typeface="TT Fors"/>
                <a:ea typeface="TT Fors"/>
                <a:cs typeface="TT Fors"/>
                <a:sym typeface="TT Fors"/>
              </a:rPr>
              <a:t>Beulah Grace </a:t>
            </a:r>
          </a:p>
          <a:p>
            <a:pPr algn="l">
              <a:lnSpc>
                <a:spcPts val="3640"/>
              </a:lnSpc>
            </a:pPr>
            <a:r>
              <a:rPr lang="en-US" sz="2600">
                <a:solidFill>
                  <a:srgbClr val="375E53"/>
                </a:solidFill>
                <a:latin typeface="TT Fors"/>
                <a:ea typeface="TT Fors"/>
                <a:cs typeface="TT Fors"/>
                <a:sym typeface="TT Fors"/>
              </a:rPr>
              <a:t>Geetha </a:t>
            </a:r>
          </a:p>
          <a:p>
            <a:pPr algn="l">
              <a:lnSpc>
                <a:spcPts val="3640"/>
              </a:lnSpc>
            </a:pPr>
            <a:r>
              <a:rPr lang="en-US" sz="2600">
                <a:solidFill>
                  <a:srgbClr val="375E53"/>
                </a:solidFill>
                <a:latin typeface="TT Fors"/>
                <a:ea typeface="TT Fors"/>
                <a:cs typeface="TT Fors"/>
                <a:sym typeface="TT Fors"/>
              </a:rPr>
              <a:t>Pritha Mandaram</a:t>
            </a:r>
          </a:p>
        </p:txBody>
      </p:sp>
      <p:sp>
        <p:nvSpPr>
          <p:cNvPr id="6" name="Freeform 6"/>
          <p:cNvSpPr/>
          <p:nvPr/>
        </p:nvSpPr>
        <p:spPr>
          <a:xfrm>
            <a:off x="9444828"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0972171" y="7829550"/>
            <a:ext cx="1791957" cy="1791957"/>
          </a:xfrm>
          <a:custGeom>
            <a:avLst/>
            <a:gdLst/>
            <a:ahLst/>
            <a:cxnLst/>
            <a:rect l="l" t="t" r="r" b="b"/>
            <a:pathLst>
              <a:path w="1791957" h="1791957">
                <a:moveTo>
                  <a:pt x="0" y="0"/>
                </a:moveTo>
                <a:lnTo>
                  <a:pt x="1791958" y="0"/>
                </a:lnTo>
                <a:lnTo>
                  <a:pt x="1791958"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2499515"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438112" y="3569075"/>
            <a:ext cx="8460914" cy="1849545"/>
          </a:xfrm>
          <a:prstGeom prst="rect">
            <a:avLst/>
          </a:prstGeom>
        </p:spPr>
        <p:txBody>
          <a:bodyPr lIns="0" tIns="0" rIns="0" bIns="0" rtlCol="0" anchor="t">
            <a:spAutoFit/>
          </a:bodyPr>
          <a:lstStyle/>
          <a:p>
            <a:pPr algn="ctr">
              <a:lnSpc>
                <a:spcPts val="7403"/>
              </a:lnSpc>
            </a:pPr>
            <a:r>
              <a:rPr lang="en-US" sz="5287" b="1">
                <a:solidFill>
                  <a:srgbClr val="375E53"/>
                </a:solidFill>
                <a:latin typeface="Canva Sans Bold"/>
                <a:ea typeface="Canva Sans Bold"/>
                <a:cs typeface="Canva Sans Bold"/>
                <a:sym typeface="Canva Sans Bold"/>
              </a:rPr>
              <a:t>Protecting Earth’s Silent Survivors</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7EDE2"/>
        </a:solidFill>
        <a:effectLst/>
      </p:bgPr>
    </p:bg>
    <p:spTree>
      <p:nvGrpSpPr>
        <p:cNvPr id="1" name=""/>
        <p:cNvGrpSpPr/>
        <p:nvPr/>
      </p:nvGrpSpPr>
      <p:grpSpPr>
        <a:xfrm>
          <a:off x="0" y="0"/>
          <a:ext cx="0" cy="0"/>
          <a:chOff x="0" y="0"/>
          <a:chExt cx="0" cy="0"/>
        </a:xfrm>
      </p:grpSpPr>
      <p:sp>
        <p:nvSpPr>
          <p:cNvPr id="2" name="Freeform 2"/>
          <p:cNvSpPr/>
          <p:nvPr/>
        </p:nvSpPr>
        <p:spPr>
          <a:xfrm>
            <a:off x="14744700"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272043" y="7829550"/>
            <a:ext cx="1791957" cy="1791957"/>
          </a:xfrm>
          <a:custGeom>
            <a:avLst/>
            <a:gdLst/>
            <a:ahLst/>
            <a:cxnLst/>
            <a:rect l="l" t="t" r="r" b="b"/>
            <a:pathLst>
              <a:path w="1791957" h="1791957">
                <a:moveTo>
                  <a:pt x="0" y="0"/>
                </a:moveTo>
                <a:lnTo>
                  <a:pt x="1791958" y="0"/>
                </a:lnTo>
                <a:lnTo>
                  <a:pt x="1791958"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799387"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612280" y="403177"/>
            <a:ext cx="4264840" cy="4264840"/>
          </a:xfrm>
          <a:custGeom>
            <a:avLst/>
            <a:gdLst/>
            <a:ahLst/>
            <a:cxnLst/>
            <a:rect l="l" t="t" r="r" b="b"/>
            <a:pathLst>
              <a:path w="4264840" h="4264840">
                <a:moveTo>
                  <a:pt x="0" y="0"/>
                </a:moveTo>
                <a:lnTo>
                  <a:pt x="4264840" y="0"/>
                </a:lnTo>
                <a:lnTo>
                  <a:pt x="4264840" y="4264840"/>
                </a:lnTo>
                <a:lnTo>
                  <a:pt x="0" y="4264840"/>
                </a:lnTo>
                <a:lnTo>
                  <a:pt x="0" y="0"/>
                </a:lnTo>
                <a:close/>
              </a:path>
            </a:pathLst>
          </a:custGeom>
          <a:blipFill>
            <a:blip r:embed="rId4"/>
            <a:stretch>
              <a:fillRect/>
            </a:stretch>
          </a:blipFill>
        </p:spPr>
      </p:sp>
      <p:sp>
        <p:nvSpPr>
          <p:cNvPr id="6" name="TextBox 6"/>
          <p:cNvSpPr txBox="1"/>
          <p:nvPr/>
        </p:nvSpPr>
        <p:spPr>
          <a:xfrm>
            <a:off x="666750" y="650081"/>
            <a:ext cx="11201400" cy="2239166"/>
          </a:xfrm>
          <a:prstGeom prst="rect">
            <a:avLst/>
          </a:prstGeom>
        </p:spPr>
        <p:txBody>
          <a:bodyPr lIns="0" tIns="0" rIns="0" bIns="0" rtlCol="0" anchor="t">
            <a:spAutoFit/>
          </a:bodyPr>
          <a:lstStyle/>
          <a:p>
            <a:pPr algn="l">
              <a:lnSpc>
                <a:spcPts val="8000"/>
              </a:lnSpc>
            </a:pPr>
            <a:r>
              <a:rPr lang="en-US" sz="8000" spc="-240">
                <a:solidFill>
                  <a:srgbClr val="375E53"/>
                </a:solidFill>
                <a:latin typeface="ITC Avant Garde Gothic"/>
                <a:ea typeface="ITC Avant Garde Gothic"/>
                <a:cs typeface="ITC Avant Garde Gothic"/>
                <a:sym typeface="ITC Avant Garde Gothic"/>
              </a:rPr>
              <a:t>Human Population Growth</a:t>
            </a:r>
          </a:p>
        </p:txBody>
      </p:sp>
      <p:sp>
        <p:nvSpPr>
          <p:cNvPr id="7" name="TextBox 7"/>
          <p:cNvSpPr txBox="1"/>
          <p:nvPr/>
        </p:nvSpPr>
        <p:spPr>
          <a:xfrm>
            <a:off x="666750" y="3729467"/>
            <a:ext cx="9763125" cy="485775"/>
          </a:xfrm>
          <a:prstGeom prst="rect">
            <a:avLst/>
          </a:prstGeom>
        </p:spPr>
        <p:txBody>
          <a:bodyPr lIns="0" tIns="0" rIns="0" bIns="0" rtlCol="0" anchor="t">
            <a:spAutoFit/>
          </a:bodyPr>
          <a:lstStyle/>
          <a:p>
            <a:pPr algn="l">
              <a:lnSpc>
                <a:spcPts val="3839"/>
              </a:lnSpc>
            </a:pPr>
            <a:r>
              <a:rPr lang="en-US" sz="3199" spc="-95">
                <a:solidFill>
                  <a:srgbClr val="375E53"/>
                </a:solidFill>
                <a:latin typeface="TT Fors"/>
                <a:ea typeface="TT Fors"/>
                <a:cs typeface="TT Fors"/>
                <a:sym typeface="TT Fors"/>
              </a:rPr>
              <a:t>Impact on Wildlife Survival</a:t>
            </a:r>
          </a:p>
        </p:txBody>
      </p:sp>
      <p:sp>
        <p:nvSpPr>
          <p:cNvPr id="8" name="TextBox 8"/>
          <p:cNvSpPr txBox="1"/>
          <p:nvPr/>
        </p:nvSpPr>
        <p:spPr>
          <a:xfrm>
            <a:off x="509356" y="5153025"/>
            <a:ext cx="17778644" cy="3476595"/>
          </a:xfrm>
          <a:prstGeom prst="rect">
            <a:avLst/>
          </a:prstGeom>
        </p:spPr>
        <p:txBody>
          <a:bodyPr lIns="0" tIns="0" rIns="0" bIns="0" rtlCol="0" anchor="t">
            <a:spAutoFit/>
          </a:bodyPr>
          <a:lstStyle/>
          <a:p>
            <a:pPr algn="l">
              <a:lnSpc>
                <a:spcPts val="4576"/>
              </a:lnSpc>
            </a:pPr>
            <a:r>
              <a:rPr lang="en-US" sz="3813" spc="-113">
                <a:solidFill>
                  <a:srgbClr val="375E53"/>
                </a:solidFill>
                <a:latin typeface="TT Fors"/>
                <a:ea typeface="TT Fors"/>
                <a:cs typeface="TT Fors"/>
                <a:sym typeface="TT Fors"/>
              </a:rPr>
              <a:t>Rapid human population growth and rising consumption are primary drivers of biodiversity loss, with wildlife populations plummeting by an average of 68-73% since 1970 due to habitat destruction, pollution, and climate change. Expanding human settlements and agricultural land use fragment natural habitats, bringing humans into direct conflict with species and threatening survival for numerous, specialized, and large-bodied animals.</a:t>
            </a:r>
          </a:p>
        </p:txBody>
      </p:sp>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DE2"/>
        </a:solidFill>
        <a:effectLst/>
      </p:bgPr>
    </p:bg>
    <p:spTree>
      <p:nvGrpSpPr>
        <p:cNvPr id="1" name=""/>
        <p:cNvGrpSpPr/>
        <p:nvPr/>
      </p:nvGrpSpPr>
      <p:grpSpPr>
        <a:xfrm>
          <a:off x="0" y="0"/>
          <a:ext cx="0" cy="0"/>
          <a:chOff x="0" y="0"/>
          <a:chExt cx="0" cy="0"/>
        </a:xfrm>
      </p:grpSpPr>
      <p:sp>
        <p:nvSpPr>
          <p:cNvPr id="2" name="Freeform 2"/>
          <p:cNvSpPr/>
          <p:nvPr/>
        </p:nvSpPr>
        <p:spPr>
          <a:xfrm>
            <a:off x="14744700"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272043" y="7829550"/>
            <a:ext cx="1791957" cy="1791957"/>
          </a:xfrm>
          <a:custGeom>
            <a:avLst/>
            <a:gdLst/>
            <a:ahLst/>
            <a:cxnLst/>
            <a:rect l="l" t="t" r="r" b="b"/>
            <a:pathLst>
              <a:path w="1791957" h="1791957">
                <a:moveTo>
                  <a:pt x="0" y="0"/>
                </a:moveTo>
                <a:lnTo>
                  <a:pt x="1791958" y="0"/>
                </a:lnTo>
                <a:lnTo>
                  <a:pt x="1791958"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799387"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1716614" y="397473"/>
            <a:ext cx="5542686" cy="5542686"/>
          </a:xfrm>
          <a:custGeom>
            <a:avLst/>
            <a:gdLst/>
            <a:ahLst/>
            <a:cxnLst/>
            <a:rect l="l" t="t" r="r" b="b"/>
            <a:pathLst>
              <a:path w="5542686" h="5542686">
                <a:moveTo>
                  <a:pt x="0" y="0"/>
                </a:moveTo>
                <a:lnTo>
                  <a:pt x="5542686" y="0"/>
                </a:lnTo>
                <a:lnTo>
                  <a:pt x="5542686" y="5542686"/>
                </a:lnTo>
                <a:lnTo>
                  <a:pt x="0" y="5542686"/>
                </a:lnTo>
                <a:lnTo>
                  <a:pt x="0" y="0"/>
                </a:lnTo>
                <a:close/>
              </a:path>
            </a:pathLst>
          </a:custGeom>
          <a:blipFill>
            <a:blip r:embed="rId4"/>
            <a:stretch>
              <a:fillRect/>
            </a:stretch>
          </a:blipFill>
        </p:spPr>
      </p:sp>
      <p:sp>
        <p:nvSpPr>
          <p:cNvPr id="6" name="Freeform 6"/>
          <p:cNvSpPr/>
          <p:nvPr/>
        </p:nvSpPr>
        <p:spPr>
          <a:xfrm>
            <a:off x="12335145" y="6158735"/>
            <a:ext cx="4617030" cy="3462773"/>
          </a:xfrm>
          <a:custGeom>
            <a:avLst/>
            <a:gdLst/>
            <a:ahLst/>
            <a:cxnLst/>
            <a:rect l="l" t="t" r="r" b="b"/>
            <a:pathLst>
              <a:path w="4617030" h="3462773">
                <a:moveTo>
                  <a:pt x="0" y="0"/>
                </a:moveTo>
                <a:lnTo>
                  <a:pt x="4617030" y="0"/>
                </a:lnTo>
                <a:lnTo>
                  <a:pt x="4617030" y="3462772"/>
                </a:lnTo>
                <a:lnTo>
                  <a:pt x="0" y="3462772"/>
                </a:lnTo>
                <a:lnTo>
                  <a:pt x="0" y="0"/>
                </a:lnTo>
                <a:close/>
              </a:path>
            </a:pathLst>
          </a:custGeom>
          <a:blipFill>
            <a:blip r:embed="rId5"/>
            <a:stretch>
              <a:fillRect/>
            </a:stretch>
          </a:blipFill>
        </p:spPr>
      </p:sp>
      <p:sp>
        <p:nvSpPr>
          <p:cNvPr id="7" name="TextBox 7"/>
          <p:cNvSpPr txBox="1"/>
          <p:nvPr/>
        </p:nvSpPr>
        <p:spPr>
          <a:xfrm>
            <a:off x="666750" y="650081"/>
            <a:ext cx="11201400" cy="2239166"/>
          </a:xfrm>
          <a:prstGeom prst="rect">
            <a:avLst/>
          </a:prstGeom>
        </p:spPr>
        <p:txBody>
          <a:bodyPr lIns="0" tIns="0" rIns="0" bIns="0" rtlCol="0" anchor="t">
            <a:spAutoFit/>
          </a:bodyPr>
          <a:lstStyle/>
          <a:p>
            <a:pPr algn="l">
              <a:lnSpc>
                <a:spcPts val="8000"/>
              </a:lnSpc>
            </a:pPr>
            <a:r>
              <a:rPr lang="en-US" sz="8000" spc="-240">
                <a:solidFill>
                  <a:srgbClr val="375E53"/>
                </a:solidFill>
                <a:latin typeface="ITC Avant Garde Gothic"/>
                <a:ea typeface="ITC Avant Garde Gothic"/>
                <a:cs typeface="ITC Avant Garde Gothic"/>
                <a:sym typeface="ITC Avant Garde Gothic"/>
              </a:rPr>
              <a:t>The Importance of Wildlife</a:t>
            </a:r>
          </a:p>
        </p:txBody>
      </p:sp>
      <p:sp>
        <p:nvSpPr>
          <p:cNvPr id="8" name="TextBox 8"/>
          <p:cNvSpPr txBox="1"/>
          <p:nvPr/>
        </p:nvSpPr>
        <p:spPr>
          <a:xfrm>
            <a:off x="666750" y="4200496"/>
            <a:ext cx="8324850" cy="2590801"/>
          </a:xfrm>
          <a:prstGeom prst="rect">
            <a:avLst/>
          </a:prstGeom>
        </p:spPr>
        <p:txBody>
          <a:bodyPr lIns="0" tIns="0" rIns="0" bIns="0" rtlCol="0" anchor="t">
            <a:spAutoFit/>
          </a:bodyPr>
          <a:lstStyle/>
          <a:p>
            <a:pPr algn="l">
              <a:lnSpc>
                <a:spcPts val="4199"/>
              </a:lnSpc>
            </a:pPr>
            <a:r>
              <a:rPr lang="en-US" sz="2999">
                <a:solidFill>
                  <a:srgbClr val="375E53"/>
                </a:solidFill>
                <a:latin typeface="TT Fors"/>
                <a:ea typeface="TT Fors"/>
                <a:cs typeface="TT Fors"/>
                <a:sym typeface="TT Fors"/>
              </a:rPr>
              <a:t>Every species is vital to maintaining ecological balance. By saving wildlife, we ensure the health of our environment, enhance biodiversity, and secure resources for future generations.</a:t>
            </a:r>
          </a:p>
        </p:txBody>
      </p:sp>
      <p:sp>
        <p:nvSpPr>
          <p:cNvPr id="9" name="TextBox 9"/>
          <p:cNvSpPr txBox="1"/>
          <p:nvPr/>
        </p:nvSpPr>
        <p:spPr>
          <a:xfrm>
            <a:off x="666750" y="3178341"/>
            <a:ext cx="6617097" cy="514322"/>
          </a:xfrm>
          <a:prstGeom prst="rect">
            <a:avLst/>
          </a:prstGeom>
        </p:spPr>
        <p:txBody>
          <a:bodyPr lIns="0" tIns="0" rIns="0" bIns="0" rtlCol="0" anchor="t">
            <a:spAutoFit/>
          </a:bodyPr>
          <a:lstStyle/>
          <a:p>
            <a:pPr algn="l">
              <a:lnSpc>
                <a:spcPts val="4199"/>
              </a:lnSpc>
            </a:pPr>
            <a:r>
              <a:rPr lang="en-US" sz="3498" spc="-103">
                <a:solidFill>
                  <a:srgbClr val="375E53"/>
                </a:solidFill>
                <a:latin typeface="TT Fors"/>
                <a:ea typeface="TT Fors"/>
                <a:cs typeface="TT Fors"/>
                <a:sym typeface="TT Fors"/>
              </a:rPr>
              <a:t>Protecting Our Planet's Ecosystem</a:t>
            </a:r>
          </a:p>
        </p:txBody>
      </p:sp>
      <p:sp>
        <p:nvSpPr>
          <p:cNvPr id="10" name="TextBox 10"/>
          <p:cNvSpPr txBox="1"/>
          <p:nvPr/>
        </p:nvSpPr>
        <p:spPr>
          <a:xfrm>
            <a:off x="1385888" y="7075733"/>
            <a:ext cx="8324850" cy="2306956"/>
          </a:xfrm>
          <a:prstGeom prst="rect">
            <a:avLst/>
          </a:prstGeom>
        </p:spPr>
        <p:txBody>
          <a:bodyPr lIns="0" tIns="0" rIns="0" bIns="0" rtlCol="0" anchor="t">
            <a:spAutoFit/>
          </a:bodyPr>
          <a:lstStyle/>
          <a:p>
            <a:pPr algn="l">
              <a:lnSpc>
                <a:spcPts val="4619"/>
              </a:lnSpc>
            </a:pPr>
            <a:r>
              <a:rPr lang="en-US" sz="3299">
                <a:solidFill>
                  <a:srgbClr val="375E53"/>
                </a:solidFill>
                <a:latin typeface="TT Fors"/>
                <a:ea typeface="TT Fors"/>
                <a:cs typeface="TT Fors"/>
                <a:sym typeface="TT Fors"/>
              </a:rPr>
              <a:t>Wildlife is crucial for maintaining ecological balance, supporting biodiversity, and ensuring the health of the planet's ecosystems</a:t>
            </a: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7EDE2"/>
        </a:solidFill>
        <a:effectLst/>
      </p:bgPr>
    </p:bg>
    <p:spTree>
      <p:nvGrpSpPr>
        <p:cNvPr id="1" name=""/>
        <p:cNvGrpSpPr/>
        <p:nvPr/>
      </p:nvGrpSpPr>
      <p:grpSpPr>
        <a:xfrm>
          <a:off x="0" y="0"/>
          <a:ext cx="0" cy="0"/>
          <a:chOff x="0" y="0"/>
          <a:chExt cx="0" cy="0"/>
        </a:xfrm>
      </p:grpSpPr>
      <p:sp>
        <p:nvSpPr>
          <p:cNvPr id="2" name="TextBox 2"/>
          <p:cNvSpPr txBox="1"/>
          <p:nvPr/>
        </p:nvSpPr>
        <p:spPr>
          <a:xfrm>
            <a:off x="7858125" y="552450"/>
            <a:ext cx="9763125" cy="388620"/>
          </a:xfrm>
          <a:prstGeom prst="rect">
            <a:avLst/>
          </a:prstGeom>
        </p:spPr>
        <p:txBody>
          <a:bodyPr lIns="0" tIns="0" rIns="0" bIns="0" rtlCol="0" anchor="t">
            <a:spAutoFit/>
          </a:bodyPr>
          <a:lstStyle/>
          <a:p>
            <a:pPr algn="l">
              <a:lnSpc>
                <a:spcPts val="2700"/>
              </a:lnSpc>
            </a:pPr>
            <a:r>
              <a:rPr lang="en-US" sz="1800" spc="-18">
                <a:solidFill>
                  <a:srgbClr val="375E53"/>
                </a:solidFill>
                <a:latin typeface="TT Fors"/>
                <a:ea typeface="TT Fors"/>
                <a:cs typeface="TT Fors"/>
                <a:sym typeface="TT Fors"/>
              </a:rPr>
              <a:t>Chart showing stages of animal extinction process</a:t>
            </a:r>
          </a:p>
        </p:txBody>
      </p:sp>
      <p:grpSp>
        <p:nvGrpSpPr>
          <p:cNvPr id="3" name="Group 3"/>
          <p:cNvGrpSpPr/>
          <p:nvPr/>
        </p:nvGrpSpPr>
        <p:grpSpPr>
          <a:xfrm>
            <a:off x="6488097" y="1063304"/>
            <a:ext cx="11787816" cy="9080916"/>
            <a:chOff x="0" y="0"/>
            <a:chExt cx="15717088" cy="12107888"/>
          </a:xfrm>
        </p:grpSpPr>
        <p:sp>
          <p:nvSpPr>
            <p:cNvPr id="4" name="Freeform 4"/>
            <p:cNvSpPr/>
            <p:nvPr/>
          </p:nvSpPr>
          <p:spPr>
            <a:xfrm>
              <a:off x="0" y="0"/>
              <a:ext cx="15717138" cy="12107926"/>
            </a:xfrm>
            <a:custGeom>
              <a:avLst/>
              <a:gdLst/>
              <a:ahLst/>
              <a:cxnLst/>
              <a:rect l="l" t="t" r="r" b="b"/>
              <a:pathLst>
                <a:path w="15717138" h="12107926">
                  <a:moveTo>
                    <a:pt x="0" y="0"/>
                  </a:moveTo>
                  <a:lnTo>
                    <a:pt x="15717138" y="0"/>
                  </a:lnTo>
                  <a:lnTo>
                    <a:pt x="15717138" y="12107926"/>
                  </a:lnTo>
                  <a:lnTo>
                    <a:pt x="0" y="12107926"/>
                  </a:lnTo>
                  <a:lnTo>
                    <a:pt x="0" y="0"/>
                  </a:lnTo>
                  <a:close/>
                </a:path>
              </a:pathLst>
            </a:custGeom>
            <a:blipFill>
              <a:blip r:embed="rId2"/>
              <a:stretch>
                <a:fillRect l="-37" r="-37"/>
              </a:stretch>
            </a:blipFill>
          </p:spPr>
        </p:sp>
      </p:grpSp>
      <p:sp>
        <p:nvSpPr>
          <p:cNvPr id="5" name="TextBox 5"/>
          <p:cNvSpPr txBox="1"/>
          <p:nvPr/>
        </p:nvSpPr>
        <p:spPr>
          <a:xfrm>
            <a:off x="666750" y="650081"/>
            <a:ext cx="5448300" cy="2239166"/>
          </a:xfrm>
          <a:prstGeom prst="rect">
            <a:avLst/>
          </a:prstGeom>
        </p:spPr>
        <p:txBody>
          <a:bodyPr lIns="0" tIns="0" rIns="0" bIns="0" rtlCol="0" anchor="t">
            <a:spAutoFit/>
          </a:bodyPr>
          <a:lstStyle/>
          <a:p>
            <a:pPr algn="l">
              <a:lnSpc>
                <a:spcPts val="8000"/>
              </a:lnSpc>
            </a:pPr>
            <a:r>
              <a:rPr lang="en-US" sz="8000" spc="-240">
                <a:solidFill>
                  <a:srgbClr val="375E53"/>
                </a:solidFill>
                <a:latin typeface="ITC Avant Garde Gothic"/>
                <a:ea typeface="ITC Avant Garde Gothic"/>
                <a:cs typeface="ITC Avant Garde Gothic"/>
                <a:sym typeface="ITC Avant Garde Gothic"/>
              </a:rPr>
              <a:t>Extinction Life Cycle</a:t>
            </a:r>
          </a:p>
        </p:txBody>
      </p:sp>
      <p:sp>
        <p:nvSpPr>
          <p:cNvPr id="6" name="TextBox 6"/>
          <p:cNvSpPr txBox="1"/>
          <p:nvPr/>
        </p:nvSpPr>
        <p:spPr>
          <a:xfrm>
            <a:off x="666750" y="3119438"/>
            <a:ext cx="5448300" cy="3766186"/>
          </a:xfrm>
          <a:prstGeom prst="rect">
            <a:avLst/>
          </a:prstGeom>
        </p:spPr>
        <p:txBody>
          <a:bodyPr lIns="0" tIns="0" rIns="0" bIns="0" rtlCol="0" anchor="t">
            <a:spAutoFit/>
          </a:bodyPr>
          <a:lstStyle/>
          <a:p>
            <a:pPr algn="l">
              <a:lnSpc>
                <a:spcPts val="4349"/>
              </a:lnSpc>
            </a:pPr>
            <a:r>
              <a:rPr lang="en-US" sz="2899" spc="-57">
                <a:solidFill>
                  <a:srgbClr val="375E53"/>
                </a:solidFill>
                <a:latin typeface="TT Fors"/>
                <a:ea typeface="TT Fors"/>
                <a:cs typeface="TT Fors"/>
                <a:sym typeface="TT Fors"/>
              </a:rPr>
              <a:t>The impact of human activity on wildlife is devastating. Habitat loss leads to significant population decline, ultimately threatening biodiversity and disrupting ecosystems essential for our survival.</a:t>
            </a:r>
          </a:p>
        </p:txBody>
      </p:sp>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1C181"/>
        </a:solidFill>
        <a:effectLst/>
      </p:bgPr>
    </p:bg>
    <p:spTree>
      <p:nvGrpSpPr>
        <p:cNvPr id="1" name=""/>
        <p:cNvGrpSpPr/>
        <p:nvPr/>
      </p:nvGrpSpPr>
      <p:grpSpPr>
        <a:xfrm>
          <a:off x="0" y="0"/>
          <a:ext cx="0" cy="0"/>
          <a:chOff x="0" y="0"/>
          <a:chExt cx="0" cy="0"/>
        </a:xfrm>
      </p:grpSpPr>
      <p:grpSp>
        <p:nvGrpSpPr>
          <p:cNvPr id="2" name="Group 2"/>
          <p:cNvGrpSpPr/>
          <p:nvPr/>
        </p:nvGrpSpPr>
        <p:grpSpPr>
          <a:xfrm>
            <a:off x="10429875" y="0"/>
            <a:ext cx="7858125" cy="10287000"/>
            <a:chOff x="0" y="0"/>
            <a:chExt cx="10477500" cy="13716000"/>
          </a:xfrm>
        </p:grpSpPr>
        <p:sp>
          <p:nvSpPr>
            <p:cNvPr id="3" name="Freeform 3"/>
            <p:cNvSpPr/>
            <p:nvPr/>
          </p:nvSpPr>
          <p:spPr>
            <a:xfrm>
              <a:off x="0" y="0"/>
              <a:ext cx="10477500" cy="13716000"/>
            </a:xfrm>
            <a:custGeom>
              <a:avLst/>
              <a:gdLst/>
              <a:ahLst/>
              <a:cxnLst/>
              <a:rect l="l" t="t" r="r" b="b"/>
              <a:pathLst>
                <a:path w="10477500" h="13716000">
                  <a:moveTo>
                    <a:pt x="0" y="0"/>
                  </a:moveTo>
                  <a:lnTo>
                    <a:pt x="10477500" y="0"/>
                  </a:lnTo>
                  <a:lnTo>
                    <a:pt x="10477500" y="13716000"/>
                  </a:lnTo>
                  <a:lnTo>
                    <a:pt x="0" y="13716000"/>
                  </a:lnTo>
                  <a:close/>
                </a:path>
              </a:pathLst>
            </a:custGeom>
            <a:blipFill>
              <a:blip r:embed="rId2"/>
              <a:stretch>
                <a:fillRect t="-347" b="-347"/>
              </a:stretch>
            </a:blipFill>
          </p:spPr>
        </p:sp>
      </p:grpSp>
      <p:sp>
        <p:nvSpPr>
          <p:cNvPr id="4" name="TextBox 4"/>
          <p:cNvSpPr txBox="1"/>
          <p:nvPr/>
        </p:nvSpPr>
        <p:spPr>
          <a:xfrm>
            <a:off x="666750" y="650081"/>
            <a:ext cx="8324850" cy="2239166"/>
          </a:xfrm>
          <a:prstGeom prst="rect">
            <a:avLst/>
          </a:prstGeom>
        </p:spPr>
        <p:txBody>
          <a:bodyPr lIns="0" tIns="0" rIns="0" bIns="0" rtlCol="0" anchor="t">
            <a:spAutoFit/>
          </a:bodyPr>
          <a:lstStyle/>
          <a:p>
            <a:pPr algn="l">
              <a:lnSpc>
                <a:spcPts val="8000"/>
              </a:lnSpc>
            </a:pPr>
            <a:r>
              <a:rPr lang="en-US" sz="8000" spc="-240">
                <a:solidFill>
                  <a:srgbClr val="375E53"/>
                </a:solidFill>
                <a:latin typeface="ITC Avant Garde Gothic"/>
                <a:ea typeface="ITC Avant Garde Gothic"/>
                <a:cs typeface="ITC Avant Garde Gothic"/>
                <a:sym typeface="ITC Avant Garde Gothic"/>
              </a:rPr>
              <a:t>How can we help?</a:t>
            </a:r>
          </a:p>
        </p:txBody>
      </p:sp>
      <p:sp>
        <p:nvSpPr>
          <p:cNvPr id="5" name="TextBox 5"/>
          <p:cNvSpPr txBox="1"/>
          <p:nvPr/>
        </p:nvSpPr>
        <p:spPr>
          <a:xfrm>
            <a:off x="666750" y="3236119"/>
            <a:ext cx="8301209" cy="1088231"/>
          </a:xfrm>
          <a:prstGeom prst="rect">
            <a:avLst/>
          </a:prstGeom>
        </p:spPr>
        <p:txBody>
          <a:bodyPr lIns="0" tIns="0" rIns="0" bIns="0" rtlCol="0" anchor="t">
            <a:spAutoFit/>
          </a:bodyPr>
          <a:lstStyle/>
          <a:p>
            <a:pPr algn="l">
              <a:lnSpc>
                <a:spcPts val="3839"/>
              </a:lnSpc>
            </a:pPr>
            <a:r>
              <a:rPr lang="en-US" sz="3199" spc="-95">
                <a:solidFill>
                  <a:srgbClr val="375E53"/>
                </a:solidFill>
                <a:latin typeface="ITC Avant Garde Gothic"/>
                <a:ea typeface="ITC Avant Garde Gothic"/>
                <a:cs typeface="ITC Avant Garde Gothic"/>
                <a:sym typeface="ITC Avant Garde Gothic"/>
              </a:rPr>
              <a:t>Simple actions can make a huge difference today.</a:t>
            </a:r>
          </a:p>
        </p:txBody>
      </p:sp>
      <p:sp>
        <p:nvSpPr>
          <p:cNvPr id="6" name="Freeform 6"/>
          <p:cNvSpPr/>
          <p:nvPr/>
        </p:nvSpPr>
        <p:spPr>
          <a:xfrm>
            <a:off x="-1125207"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6750"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2218162"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8BDA6"/>
        </a:solidFill>
        <a:effectLst/>
      </p:bgPr>
    </p:bg>
    <p:spTree>
      <p:nvGrpSpPr>
        <p:cNvPr id="1" name=""/>
        <p:cNvGrpSpPr/>
        <p:nvPr/>
      </p:nvGrpSpPr>
      <p:grpSpPr>
        <a:xfrm>
          <a:off x="0" y="0"/>
          <a:ext cx="0" cy="0"/>
          <a:chOff x="0" y="0"/>
          <a:chExt cx="0" cy="0"/>
        </a:xfrm>
      </p:grpSpPr>
      <p:sp>
        <p:nvSpPr>
          <p:cNvPr id="2" name="Freeform 2"/>
          <p:cNvSpPr/>
          <p:nvPr/>
        </p:nvSpPr>
        <p:spPr>
          <a:xfrm>
            <a:off x="9481009" y="1028700"/>
            <a:ext cx="10273704" cy="8604227"/>
          </a:xfrm>
          <a:custGeom>
            <a:avLst/>
            <a:gdLst/>
            <a:ahLst/>
            <a:cxnLst/>
            <a:rect l="l" t="t" r="r" b="b"/>
            <a:pathLst>
              <a:path w="10273704" h="8604227">
                <a:moveTo>
                  <a:pt x="0" y="0"/>
                </a:moveTo>
                <a:lnTo>
                  <a:pt x="10273704" y="0"/>
                </a:lnTo>
                <a:lnTo>
                  <a:pt x="10273704" y="8604227"/>
                </a:lnTo>
                <a:lnTo>
                  <a:pt x="0" y="8604227"/>
                </a:lnTo>
                <a:lnTo>
                  <a:pt x="0" y="0"/>
                </a:lnTo>
                <a:close/>
              </a:path>
            </a:pathLst>
          </a:custGeom>
          <a:blipFill>
            <a:blip r:embed="rId2"/>
            <a:stretch>
              <a:fillRect/>
            </a:stretch>
          </a:blipFill>
        </p:spPr>
      </p:sp>
      <p:sp>
        <p:nvSpPr>
          <p:cNvPr id="3" name="TextBox 3"/>
          <p:cNvSpPr txBox="1"/>
          <p:nvPr/>
        </p:nvSpPr>
        <p:spPr>
          <a:xfrm>
            <a:off x="540028" y="2283712"/>
            <a:ext cx="8603972" cy="4999490"/>
          </a:xfrm>
          <a:prstGeom prst="rect">
            <a:avLst/>
          </a:prstGeom>
        </p:spPr>
        <p:txBody>
          <a:bodyPr lIns="0" tIns="0" rIns="0" bIns="0" rtlCol="0" anchor="t">
            <a:spAutoFit/>
          </a:bodyPr>
          <a:lstStyle/>
          <a:p>
            <a:pPr algn="ctr">
              <a:lnSpc>
                <a:spcPts val="6657"/>
              </a:lnSpc>
            </a:pPr>
            <a:r>
              <a:rPr lang="en-US" sz="4755" b="1">
                <a:solidFill>
                  <a:srgbClr val="000000"/>
                </a:solidFill>
                <a:latin typeface="Canva Sans Bold"/>
                <a:ea typeface="Canva Sans Bold"/>
                <a:cs typeface="Canva Sans Bold"/>
                <a:sym typeface="Canva Sans Bold"/>
              </a:rPr>
              <a:t>Saving wildlife can be achieved through simple, daily actions like reducing plastic use, planting native species, and protecting local habitats. </a:t>
            </a:r>
          </a:p>
        </p:txBody>
      </p:sp>
    </p:spTree>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1C181"/>
        </a:solidFill>
        <a:effectLst/>
      </p:bgPr>
    </p:bg>
    <p:spTree>
      <p:nvGrpSpPr>
        <p:cNvPr id="1" name=""/>
        <p:cNvGrpSpPr/>
        <p:nvPr/>
      </p:nvGrpSpPr>
      <p:grpSpPr>
        <a:xfrm>
          <a:off x="0" y="0"/>
          <a:ext cx="0" cy="0"/>
          <a:chOff x="0" y="0"/>
          <a:chExt cx="0" cy="0"/>
        </a:xfrm>
      </p:grpSpPr>
      <p:sp>
        <p:nvSpPr>
          <p:cNvPr id="2" name="Freeform 2"/>
          <p:cNvSpPr/>
          <p:nvPr/>
        </p:nvSpPr>
        <p:spPr>
          <a:xfrm>
            <a:off x="-1125207"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66750"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218162"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168012" y="1561471"/>
            <a:ext cx="7975988" cy="7696829"/>
          </a:xfrm>
          <a:custGeom>
            <a:avLst/>
            <a:gdLst/>
            <a:ahLst/>
            <a:cxnLst/>
            <a:rect l="l" t="t" r="r" b="b"/>
            <a:pathLst>
              <a:path w="7975988" h="7696829">
                <a:moveTo>
                  <a:pt x="0" y="0"/>
                </a:moveTo>
                <a:lnTo>
                  <a:pt x="7975988" y="0"/>
                </a:lnTo>
                <a:lnTo>
                  <a:pt x="7975988" y="7696829"/>
                </a:lnTo>
                <a:lnTo>
                  <a:pt x="0" y="7696829"/>
                </a:lnTo>
                <a:lnTo>
                  <a:pt x="0" y="0"/>
                </a:lnTo>
                <a:close/>
              </a:path>
            </a:pathLst>
          </a:custGeom>
          <a:blipFill>
            <a:blip r:embed="rId4"/>
            <a:stretch>
              <a:fillRect/>
            </a:stretch>
          </a:blipFill>
        </p:spPr>
      </p:sp>
      <p:sp>
        <p:nvSpPr>
          <p:cNvPr id="6" name="Freeform 6"/>
          <p:cNvSpPr/>
          <p:nvPr/>
        </p:nvSpPr>
        <p:spPr>
          <a:xfrm>
            <a:off x="9962177" y="2079486"/>
            <a:ext cx="7667833" cy="6660799"/>
          </a:xfrm>
          <a:custGeom>
            <a:avLst/>
            <a:gdLst/>
            <a:ahLst/>
            <a:cxnLst/>
            <a:rect l="l" t="t" r="r" b="b"/>
            <a:pathLst>
              <a:path w="7667833" h="6660799">
                <a:moveTo>
                  <a:pt x="0" y="0"/>
                </a:moveTo>
                <a:lnTo>
                  <a:pt x="7667833" y="0"/>
                </a:lnTo>
                <a:lnTo>
                  <a:pt x="7667833" y="6660799"/>
                </a:lnTo>
                <a:lnTo>
                  <a:pt x="0" y="6660799"/>
                </a:lnTo>
                <a:lnTo>
                  <a:pt x="0" y="0"/>
                </a:lnTo>
                <a:close/>
              </a:path>
            </a:pathLst>
          </a:custGeom>
          <a:blipFill>
            <a:blip r:embed="rId5"/>
            <a:stretch>
              <a:fillRect l="-12306" r="-3516"/>
            </a:stretch>
          </a:blipFill>
        </p:spPr>
      </p:sp>
    </p:spTree>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1C181"/>
        </a:solidFill>
        <a:effectLst/>
      </p:bgPr>
    </p:bg>
    <p:spTree>
      <p:nvGrpSpPr>
        <p:cNvPr id="1" name=""/>
        <p:cNvGrpSpPr/>
        <p:nvPr/>
      </p:nvGrpSpPr>
      <p:grpSpPr>
        <a:xfrm>
          <a:off x="0" y="0"/>
          <a:ext cx="0" cy="0"/>
          <a:chOff x="0" y="0"/>
          <a:chExt cx="0" cy="0"/>
        </a:xfrm>
      </p:grpSpPr>
      <p:sp>
        <p:nvSpPr>
          <p:cNvPr id="2" name="Freeform 2"/>
          <p:cNvSpPr/>
          <p:nvPr/>
        </p:nvSpPr>
        <p:spPr>
          <a:xfrm>
            <a:off x="-1125207"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66750"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218162" y="7829550"/>
            <a:ext cx="1791957" cy="1791957"/>
          </a:xfrm>
          <a:custGeom>
            <a:avLst/>
            <a:gdLst/>
            <a:ahLst/>
            <a:cxnLst/>
            <a:rect l="l" t="t" r="r" b="b"/>
            <a:pathLst>
              <a:path w="1791957" h="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2286315" y="952500"/>
            <a:ext cx="13715370" cy="4565865"/>
          </a:xfrm>
          <a:prstGeom prst="rect">
            <a:avLst/>
          </a:prstGeom>
        </p:spPr>
        <p:txBody>
          <a:bodyPr wrap="square" lIns="0" tIns="0" rIns="0" bIns="0" rtlCol="0" anchor="t">
            <a:spAutoFit/>
          </a:bodyPr>
          <a:lstStyle/>
          <a:p>
            <a:pPr algn="ctr">
              <a:lnSpc>
                <a:spcPts val="7279"/>
              </a:lnSpc>
            </a:pPr>
            <a:r>
              <a:rPr lang="en-US" sz="3600" b="1" dirty="0">
                <a:solidFill>
                  <a:srgbClr val="000000"/>
                </a:solidFill>
                <a:latin typeface="Canva Sans Bold"/>
                <a:ea typeface="Canva Sans Bold"/>
                <a:cs typeface="Canva Sans Bold"/>
                <a:sym typeface="Canva Sans Bold"/>
              </a:rPr>
              <a:t>The choices we make today will determine the world future generations inherit. Let us be the generation that stood up, spoke out, and took action to preserve the beauty and diversity of life on Earth.</a:t>
            </a:r>
          </a:p>
          <a:p>
            <a:pPr algn="ctr">
              <a:lnSpc>
                <a:spcPts val="7279"/>
              </a:lnSpc>
            </a:pPr>
            <a:endParaRPr lang="en-US" sz="3600" b="1" dirty="0">
              <a:solidFill>
                <a:srgbClr val="000000"/>
              </a:solidFill>
              <a:latin typeface="Canva Sans Bold"/>
              <a:ea typeface="Canva Sans Bold"/>
              <a:cs typeface="Canva Sans Bold"/>
              <a:sym typeface="Canva Sans Bold"/>
            </a:endParaRPr>
          </a:p>
        </p:txBody>
      </p:sp>
      <p:sp>
        <p:nvSpPr>
          <p:cNvPr id="6" name="TextBox 6"/>
          <p:cNvSpPr txBox="1"/>
          <p:nvPr/>
        </p:nvSpPr>
        <p:spPr>
          <a:xfrm>
            <a:off x="571500" y="5518365"/>
            <a:ext cx="17145000" cy="2734945"/>
          </a:xfrm>
          <a:prstGeom prst="rect">
            <a:avLst/>
          </a:prstGeom>
        </p:spPr>
        <p:txBody>
          <a:bodyPr wrap="square" lIns="0" tIns="0" rIns="0" bIns="0" rtlCol="0" anchor="t">
            <a:spAutoFit/>
          </a:bodyPr>
          <a:lstStyle/>
          <a:p>
            <a:pPr algn="ctr">
              <a:lnSpc>
                <a:spcPts val="7279"/>
              </a:lnSpc>
            </a:pPr>
            <a:r>
              <a:rPr lang="en-US" sz="3600" b="1" dirty="0">
                <a:solidFill>
                  <a:srgbClr val="000000"/>
                </a:solidFill>
                <a:latin typeface="Canva Sans Bold"/>
                <a:ea typeface="Canva Sans Bold"/>
                <a:cs typeface="Canva Sans Bold"/>
                <a:sym typeface="Canva Sans Bold"/>
              </a:rPr>
              <a:t>As the famous conservationist Jane Goodall once said:</a:t>
            </a:r>
          </a:p>
          <a:p>
            <a:pPr algn="ctr">
              <a:lnSpc>
                <a:spcPts val="7279"/>
              </a:lnSpc>
            </a:pPr>
            <a:r>
              <a:rPr lang="en-US" sz="3600" b="1" dirty="0">
                <a:solidFill>
                  <a:srgbClr val="000000"/>
                </a:solidFill>
                <a:latin typeface="Canva Sans Bold"/>
                <a:ea typeface="Canva Sans Bold"/>
                <a:cs typeface="Canva Sans Bold"/>
                <a:sym typeface="Canva Sans Bold"/>
              </a:rPr>
              <a:t>*“What you do makes a difference, and you have to decide what kind of difference you want to make.”*</a:t>
            </a:r>
          </a:p>
        </p:txBody>
      </p:sp>
    </p:spTree>
  </p:cSld>
  <p:clrMapOvr>
    <a:masterClrMapping/>
  </p:clrMapOvr>
  <p:transition spd="slow">
    <p:wipe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296</Words>
  <Application>Microsoft Office PowerPoint</Application>
  <PresentationFormat>Custom</PresentationFormat>
  <Paragraphs>24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Canva Sans Bold</vt:lpstr>
      <vt:lpstr>Arial</vt:lpstr>
      <vt:lpstr>TT Fors</vt:lpstr>
      <vt:lpstr>Calibri</vt:lpstr>
      <vt:lpstr>ITC Avant Garde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Presented by: Keerthana Sameera Beulah Grace Geetha Pritha Mandaram</dc:title>
  <cp:lastModifiedBy>Sameera V</cp:lastModifiedBy>
  <cp:revision>1</cp:revision>
  <dcterms:created xsi:type="dcterms:W3CDTF">2006-08-16T00:00:00Z</dcterms:created>
  <dcterms:modified xsi:type="dcterms:W3CDTF">2026-02-19T06:04:08Z</dcterms:modified>
  <dc:identifier>DAHBr_FOEt4</dc:identifier>
</cp:coreProperties>
</file>